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Barlow" panose="020F0502020204030204" pitchFamily="2" charset="0"/>
      <p:regular r:id="rId9"/>
      <p:bold r:id="rId10"/>
      <p:italic r:id="rId11"/>
      <p:boldItalic r:id="rId12"/>
    </p:embeddedFont>
  </p:embeddedFontLst>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80" d="100"/>
          <a:sy n="80" d="100"/>
        </p:scale>
        <p:origin x="159" y="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08752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81063" y="2287429"/>
            <a:ext cx="7381875" cy="352425"/>
          </a:xfrm>
          <a:prstGeom prst="rect">
            <a:avLst/>
          </a:prstGeom>
          <a:noFill/>
          <a:ln/>
        </p:spPr>
        <p:txBody>
          <a:bodyPr wrap="none" lIns="0" tIns="0" rIns="0" bIns="0" rtlCol="0" anchor="t"/>
          <a:lstStyle/>
          <a:p>
            <a:pPr marL="0" indent="0" algn="l">
              <a:lnSpc>
                <a:spcPts val="2750"/>
              </a:lnSpc>
              <a:buNone/>
            </a:pPr>
            <a:endParaRPr lang="en-US" sz="1700" dirty="0"/>
          </a:p>
        </p:txBody>
      </p:sp>
      <p:sp>
        <p:nvSpPr>
          <p:cNvPr id="4" name="Shape 1"/>
          <p:cNvSpPr/>
          <p:nvPr/>
        </p:nvSpPr>
        <p:spPr>
          <a:xfrm>
            <a:off x="850583" y="2857143"/>
            <a:ext cx="60960" cy="851535"/>
          </a:xfrm>
          <a:prstGeom prst="rect">
            <a:avLst/>
          </a:prstGeom>
          <a:solidFill>
            <a:srgbClr val="16FFBB"/>
          </a:solidFill>
          <a:ln/>
        </p:spPr>
        <p:txBody>
          <a:bodyPr/>
          <a:lstStyle/>
          <a:p>
            <a:endParaRPr lang="he-IL"/>
          </a:p>
        </p:txBody>
      </p:sp>
      <p:sp>
        <p:nvSpPr>
          <p:cNvPr id="5" name="Text 2"/>
          <p:cNvSpPr/>
          <p:nvPr/>
        </p:nvSpPr>
        <p:spPr>
          <a:xfrm>
            <a:off x="1162288" y="2887623"/>
            <a:ext cx="2889766"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Yuval Harel and Or Cohen</a:t>
            </a:r>
            <a:endParaRPr lang="en-US" sz="1900" dirty="0"/>
          </a:p>
        </p:txBody>
      </p:sp>
      <p:sp>
        <p:nvSpPr>
          <p:cNvPr id="6" name="Text 3"/>
          <p:cNvSpPr/>
          <p:nvPr/>
        </p:nvSpPr>
        <p:spPr>
          <a:xfrm>
            <a:off x="1162288" y="3325773"/>
            <a:ext cx="7100649" cy="352425"/>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School of Computer Science</a:t>
            </a:r>
            <a:endParaRPr lang="en-US" sz="1700" dirty="0"/>
          </a:p>
        </p:txBody>
      </p:sp>
      <p:sp>
        <p:nvSpPr>
          <p:cNvPr id="7" name="Shape 4"/>
          <p:cNvSpPr/>
          <p:nvPr/>
        </p:nvSpPr>
        <p:spPr>
          <a:xfrm>
            <a:off x="850583" y="4088249"/>
            <a:ext cx="60960" cy="851535"/>
          </a:xfrm>
          <a:prstGeom prst="rect">
            <a:avLst/>
          </a:prstGeom>
          <a:solidFill>
            <a:srgbClr val="29DDDA"/>
          </a:solidFill>
          <a:ln/>
        </p:spPr>
        <p:txBody>
          <a:bodyPr/>
          <a:lstStyle/>
          <a:p>
            <a:endParaRPr lang="he-IL"/>
          </a:p>
        </p:txBody>
      </p:sp>
      <p:sp>
        <p:nvSpPr>
          <p:cNvPr id="8" name="Text 5"/>
          <p:cNvSpPr/>
          <p:nvPr/>
        </p:nvSpPr>
        <p:spPr>
          <a:xfrm>
            <a:off x="1162288" y="4118729"/>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Netanel Dahan</a:t>
            </a:r>
            <a:endParaRPr lang="en-US" sz="1900" dirty="0"/>
          </a:p>
        </p:txBody>
      </p:sp>
      <p:sp>
        <p:nvSpPr>
          <p:cNvPr id="9" name="Text 6"/>
          <p:cNvSpPr/>
          <p:nvPr/>
        </p:nvSpPr>
        <p:spPr>
          <a:xfrm>
            <a:off x="1162288" y="4556879"/>
            <a:ext cx="7100649" cy="352425"/>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School of Behavioral Sciences</a:t>
            </a:r>
            <a:endParaRPr lang="en-US" sz="1700" dirty="0"/>
          </a:p>
        </p:txBody>
      </p:sp>
      <p:sp>
        <p:nvSpPr>
          <p:cNvPr id="10" name="Shape 7"/>
          <p:cNvSpPr/>
          <p:nvPr/>
        </p:nvSpPr>
        <p:spPr>
          <a:xfrm>
            <a:off x="850583" y="5319355"/>
            <a:ext cx="60960" cy="851535"/>
          </a:xfrm>
          <a:prstGeom prst="rect">
            <a:avLst/>
          </a:prstGeom>
          <a:solidFill>
            <a:srgbClr val="37A7E7"/>
          </a:solidFill>
          <a:ln/>
        </p:spPr>
        <p:txBody>
          <a:bodyPr/>
          <a:lstStyle/>
          <a:p>
            <a:endParaRPr lang="he-IL"/>
          </a:p>
        </p:txBody>
      </p:sp>
      <p:sp>
        <p:nvSpPr>
          <p:cNvPr id="11" name="Text 8"/>
          <p:cNvSpPr/>
          <p:nvPr/>
        </p:nvSpPr>
        <p:spPr>
          <a:xfrm>
            <a:off x="1162288" y="5349835"/>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Kfir Motzeri Grady</a:t>
            </a:r>
            <a:endParaRPr lang="en-US" sz="1900" dirty="0"/>
          </a:p>
        </p:txBody>
      </p:sp>
      <p:sp>
        <p:nvSpPr>
          <p:cNvPr id="12" name="Text 9"/>
          <p:cNvSpPr/>
          <p:nvPr/>
        </p:nvSpPr>
        <p:spPr>
          <a:xfrm>
            <a:off x="1162288" y="5787985"/>
            <a:ext cx="7100649" cy="352425"/>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School of Information Systems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798552"/>
            <a:ext cx="4895374" cy="611981"/>
          </a:xfrm>
          <a:prstGeom prst="rect">
            <a:avLst/>
          </a:prstGeom>
          <a:noFill/>
          <a:ln/>
        </p:spPr>
        <p:txBody>
          <a:bodyPr wrap="none" lIns="0" tIns="0" rIns="0" bIns="0" rtlCol="0" anchor="t"/>
          <a:lstStyle/>
          <a:p>
            <a:pPr marL="0" indent="0" algn="l">
              <a:lnSpc>
                <a:spcPts val="4800"/>
              </a:lnSpc>
              <a:buNone/>
            </a:pPr>
            <a:r>
              <a:rPr lang="en-US" sz="3850" b="1" dirty="0">
                <a:solidFill>
                  <a:srgbClr val="F0FCFF"/>
                </a:solidFill>
                <a:latin typeface="Spline Sans Bold" pitchFamily="34" charset="0"/>
                <a:ea typeface="Spline Sans Bold" pitchFamily="34" charset="-122"/>
                <a:cs typeface="Spline Sans Bold" pitchFamily="34" charset="-120"/>
              </a:rPr>
              <a:t>The Problem Space</a:t>
            </a:r>
            <a:endParaRPr lang="en-US" sz="3850" dirty="0"/>
          </a:p>
        </p:txBody>
      </p:sp>
      <p:sp>
        <p:nvSpPr>
          <p:cNvPr id="4" name="Text 1"/>
          <p:cNvSpPr/>
          <p:nvPr/>
        </p:nvSpPr>
        <p:spPr>
          <a:xfrm>
            <a:off x="6367462" y="1961198"/>
            <a:ext cx="2937153" cy="367070"/>
          </a:xfrm>
          <a:prstGeom prst="rect">
            <a:avLst/>
          </a:prstGeom>
          <a:noFill/>
          <a:ln/>
        </p:spPr>
        <p:txBody>
          <a:bodyPr wrap="none" lIns="0" tIns="0" rIns="0" bIns="0" rtlCol="0" anchor="t"/>
          <a:lstStyle/>
          <a:p>
            <a:pPr marL="0" indent="0" algn="l">
              <a:lnSpc>
                <a:spcPts val="2850"/>
              </a:lnSpc>
              <a:buNone/>
            </a:pPr>
            <a:r>
              <a:rPr lang="en-US" sz="2300" b="1" dirty="0">
                <a:solidFill>
                  <a:srgbClr val="F0FCFF"/>
                </a:solidFill>
                <a:latin typeface="Spline Sans Bold" pitchFamily="34" charset="0"/>
                <a:ea typeface="Spline Sans Bold" pitchFamily="34" charset="-122"/>
                <a:cs typeface="Spline Sans Bold" pitchFamily="34" charset="-120"/>
              </a:rPr>
              <a:t>The Problem</a:t>
            </a:r>
            <a:endParaRPr lang="en-US" sz="2300" dirty="0"/>
          </a:p>
        </p:txBody>
      </p:sp>
      <p:sp>
        <p:nvSpPr>
          <p:cNvPr id="5" name="Text 2"/>
          <p:cNvSpPr/>
          <p:nvPr/>
        </p:nvSpPr>
        <p:spPr>
          <a:xfrm>
            <a:off x="6367462" y="2416373"/>
            <a:ext cx="2937153" cy="367070"/>
          </a:xfrm>
          <a:prstGeom prst="rect">
            <a:avLst/>
          </a:prstGeom>
          <a:noFill/>
          <a:ln/>
        </p:spPr>
        <p:txBody>
          <a:bodyPr wrap="none" lIns="0" tIns="0" rIns="0" bIns="0" rtlCol="0" anchor="t"/>
          <a:lstStyle/>
          <a:p>
            <a:pPr marL="0" indent="0" algn="l">
              <a:lnSpc>
                <a:spcPts val="2850"/>
              </a:lnSpc>
              <a:buNone/>
            </a:pPr>
            <a:r>
              <a:rPr lang="en-US" sz="2300" b="1" dirty="0">
                <a:solidFill>
                  <a:srgbClr val="F0FCFF"/>
                </a:solidFill>
                <a:latin typeface="Spline Sans Bold" pitchFamily="34" charset="0"/>
                <a:ea typeface="Spline Sans Bold" pitchFamily="34" charset="-122"/>
                <a:cs typeface="Spline Sans Bold" pitchFamily="34" charset="-120"/>
              </a:rPr>
              <a:t>The Problem</a:t>
            </a:r>
            <a:endParaRPr lang="en-US" sz="2300" dirty="0"/>
          </a:p>
        </p:txBody>
      </p:sp>
      <p:sp>
        <p:nvSpPr>
          <p:cNvPr id="6" name="Text 3"/>
          <p:cNvSpPr/>
          <p:nvPr/>
        </p:nvSpPr>
        <p:spPr>
          <a:xfrm>
            <a:off x="6367462" y="3003709"/>
            <a:ext cx="3422213" cy="352425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In today's service world, both customers and professionals face significant challenges. Customers struggle to find suitable professionals and receive clear information on availability. Meanwhile, professionals must manage inquiries and schedules across multiple channels, leading to confusion and inefficiency.</a:t>
            </a:r>
            <a:endParaRPr lang="en-US" sz="1700" dirty="0"/>
          </a:p>
        </p:txBody>
      </p:sp>
      <p:sp>
        <p:nvSpPr>
          <p:cNvPr id="7" name="Text 4"/>
          <p:cNvSpPr/>
          <p:nvPr/>
        </p:nvSpPr>
        <p:spPr>
          <a:xfrm>
            <a:off x="10334744" y="1961198"/>
            <a:ext cx="2937153" cy="367070"/>
          </a:xfrm>
          <a:prstGeom prst="rect">
            <a:avLst/>
          </a:prstGeom>
          <a:noFill/>
          <a:ln/>
        </p:spPr>
        <p:txBody>
          <a:bodyPr wrap="none" lIns="0" tIns="0" rIns="0" bIns="0" rtlCol="0" anchor="t"/>
          <a:lstStyle/>
          <a:p>
            <a:pPr marL="0" indent="0" algn="l">
              <a:lnSpc>
                <a:spcPts val="2850"/>
              </a:lnSpc>
              <a:buNone/>
            </a:pPr>
            <a:r>
              <a:rPr lang="en-US" sz="2300" b="1" dirty="0">
                <a:solidFill>
                  <a:srgbClr val="F0FCFF"/>
                </a:solidFill>
                <a:latin typeface="Spline Sans Bold" pitchFamily="34" charset="0"/>
                <a:ea typeface="Spline Sans Bold" pitchFamily="34" charset="-122"/>
                <a:cs typeface="Spline Sans Bold" pitchFamily="34" charset="-120"/>
              </a:rPr>
              <a:t>The Challenge</a:t>
            </a:r>
            <a:endParaRPr lang="en-US" sz="2300" dirty="0"/>
          </a:p>
        </p:txBody>
      </p:sp>
      <p:sp>
        <p:nvSpPr>
          <p:cNvPr id="8" name="Text 5"/>
          <p:cNvSpPr/>
          <p:nvPr/>
        </p:nvSpPr>
        <p:spPr>
          <a:xfrm>
            <a:off x="10334744" y="2548533"/>
            <a:ext cx="3422213" cy="211455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To streamline and digitize the service ordering process for professionals using a smart system that enables precise coordination, full transparency, and efficient management for both sides.</a:t>
            </a:r>
            <a:endParaRPr lang="en-US" sz="1700" dirty="0"/>
          </a:p>
        </p:txBody>
      </p:sp>
      <p:sp>
        <p:nvSpPr>
          <p:cNvPr id="9" name="Text 6"/>
          <p:cNvSpPr/>
          <p:nvPr/>
        </p:nvSpPr>
        <p:spPr>
          <a:xfrm>
            <a:off x="10334744" y="4883348"/>
            <a:ext cx="2937153" cy="367070"/>
          </a:xfrm>
          <a:prstGeom prst="rect">
            <a:avLst/>
          </a:prstGeom>
          <a:noFill/>
          <a:ln/>
        </p:spPr>
        <p:txBody>
          <a:bodyPr wrap="none" lIns="0" tIns="0" rIns="0" bIns="0" rtlCol="0" anchor="t"/>
          <a:lstStyle/>
          <a:p>
            <a:pPr marL="0" indent="0" algn="l">
              <a:lnSpc>
                <a:spcPts val="2850"/>
              </a:lnSpc>
              <a:buNone/>
            </a:pPr>
            <a:r>
              <a:rPr lang="en-US" sz="2300" b="1" dirty="0">
                <a:solidFill>
                  <a:srgbClr val="F0FCFF"/>
                </a:solidFill>
                <a:latin typeface="Spline Sans Bold" pitchFamily="34" charset="0"/>
                <a:ea typeface="Spline Sans Bold" pitchFamily="34" charset="-122"/>
                <a:cs typeface="Spline Sans Bold" pitchFamily="34" charset="-120"/>
              </a:rPr>
              <a:t>The Solution</a:t>
            </a:r>
            <a:endParaRPr lang="en-US" sz="2300" dirty="0"/>
          </a:p>
        </p:txBody>
      </p:sp>
      <p:sp>
        <p:nvSpPr>
          <p:cNvPr id="10" name="Text 7"/>
          <p:cNvSpPr/>
          <p:nvPr/>
        </p:nvSpPr>
        <p:spPr>
          <a:xfrm>
            <a:off x="10334744" y="5470684"/>
            <a:ext cx="3422213" cy="1762125"/>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A web-based platform for managing the entire service process end-to-end—from searching for a professional and booking an order to communication and payment. </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31438" y="1067157"/>
            <a:ext cx="4056936" cy="497919"/>
          </a:xfrm>
          <a:prstGeom prst="rect">
            <a:avLst/>
          </a:prstGeom>
          <a:noFill/>
          <a:ln/>
        </p:spPr>
        <p:txBody>
          <a:bodyPr wrap="none" lIns="0" tIns="0" rIns="0" bIns="0" rtlCol="0" anchor="t"/>
          <a:lstStyle/>
          <a:p>
            <a:pPr marL="0" indent="0" algn="l">
              <a:lnSpc>
                <a:spcPts val="3900"/>
              </a:lnSpc>
              <a:buNone/>
            </a:pPr>
            <a:r>
              <a:rPr lang="en-US" sz="3100" b="1" dirty="0">
                <a:solidFill>
                  <a:srgbClr val="F0FCFF"/>
                </a:solidFill>
                <a:latin typeface="Spline Sans Bold" pitchFamily="34" charset="0"/>
                <a:ea typeface="Spline Sans Bold" pitchFamily="34" charset="-122"/>
                <a:cs typeface="Spline Sans Bold" pitchFamily="34" charset="-120"/>
              </a:rPr>
              <a:t>Solution Components</a:t>
            </a:r>
            <a:endParaRPr lang="en-US" sz="31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7650" y="2857024"/>
            <a:ext cx="448151" cy="448151"/>
          </a:xfrm>
          <a:prstGeom prst="rect">
            <a:avLst/>
          </a:prstGeom>
        </p:spPr>
      </p:pic>
      <p:sp>
        <p:nvSpPr>
          <p:cNvPr id="4" name="Text 1"/>
          <p:cNvSpPr/>
          <p:nvPr/>
        </p:nvSpPr>
        <p:spPr>
          <a:xfrm>
            <a:off x="977650" y="3487460"/>
            <a:ext cx="4559260" cy="248960"/>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Spline Sans Bold" pitchFamily="34" charset="0"/>
                <a:ea typeface="Spline Sans Bold" pitchFamily="34" charset="-122"/>
                <a:cs typeface="Spline Sans Bold" pitchFamily="34" charset="-120"/>
              </a:rPr>
              <a:t>Availability and Scheduling Management System</a:t>
            </a:r>
            <a:endParaRPr lang="en-US" sz="1550" dirty="0"/>
          </a:p>
        </p:txBody>
      </p:sp>
      <p:sp>
        <p:nvSpPr>
          <p:cNvPr id="5" name="Text 2"/>
          <p:cNvSpPr/>
          <p:nvPr/>
        </p:nvSpPr>
        <p:spPr>
          <a:xfrm>
            <a:off x="977650" y="3823930"/>
            <a:ext cx="6192560" cy="520303"/>
          </a:xfrm>
          <a:prstGeom prst="rect">
            <a:avLst/>
          </a:prstGeom>
          <a:noFill/>
          <a:ln/>
        </p:spPr>
        <p:txBody>
          <a:bodyPr wrap="square" lIns="0" tIns="0" rIns="0" bIns="0" rtlCol="0" anchor="t"/>
          <a:lstStyle/>
          <a:p>
            <a:pPr marL="0" indent="0" algn="l">
              <a:lnSpc>
                <a:spcPts val="2000"/>
              </a:lnSpc>
              <a:buNone/>
            </a:pPr>
            <a:r>
              <a:rPr lang="en-US" sz="1400" dirty="0">
                <a:solidFill>
                  <a:srgbClr val="E0E4E6"/>
                </a:solidFill>
                <a:latin typeface="Barlow" pitchFamily="34" charset="0"/>
                <a:ea typeface="Barlow" pitchFamily="34" charset="-122"/>
                <a:cs typeface="Barlow" pitchFamily="34" charset="-120"/>
              </a:rPr>
              <a:t>A system for managing the calendars and availability of professionals to optimize service acceptance.</a:t>
            </a:r>
            <a:endParaRPr lang="en-US" sz="14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06283" y="1856899"/>
            <a:ext cx="448151" cy="448151"/>
          </a:xfrm>
          <a:prstGeom prst="rect">
            <a:avLst/>
          </a:prstGeom>
        </p:spPr>
      </p:pic>
      <p:sp>
        <p:nvSpPr>
          <p:cNvPr id="7" name="Text 3"/>
          <p:cNvSpPr/>
          <p:nvPr/>
        </p:nvSpPr>
        <p:spPr>
          <a:xfrm>
            <a:off x="7406283" y="2487335"/>
            <a:ext cx="2934057" cy="248960"/>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Spline Sans Bold" pitchFamily="34" charset="0"/>
                <a:ea typeface="Spline Sans Bold" pitchFamily="34" charset="-122"/>
                <a:cs typeface="Spline Sans Bold" pitchFamily="34" charset="-120"/>
              </a:rPr>
              <a:t>Real time Statuses and Updates</a:t>
            </a:r>
            <a:endParaRPr lang="en-US" sz="1550" dirty="0"/>
          </a:p>
        </p:txBody>
      </p:sp>
      <p:sp>
        <p:nvSpPr>
          <p:cNvPr id="8" name="Text 4"/>
          <p:cNvSpPr/>
          <p:nvPr/>
        </p:nvSpPr>
        <p:spPr>
          <a:xfrm>
            <a:off x="7406283" y="2823805"/>
            <a:ext cx="6192560" cy="520303"/>
          </a:xfrm>
          <a:prstGeom prst="rect">
            <a:avLst/>
          </a:prstGeom>
          <a:noFill/>
          <a:ln/>
        </p:spPr>
        <p:txBody>
          <a:bodyPr wrap="square" lIns="0" tIns="0" rIns="0" bIns="0" rtlCol="0" anchor="t"/>
          <a:lstStyle/>
          <a:p>
            <a:pPr marL="0" indent="0" algn="l">
              <a:lnSpc>
                <a:spcPts val="2000"/>
              </a:lnSpc>
              <a:buNone/>
            </a:pPr>
            <a:r>
              <a:rPr lang="en-US" sz="1400" dirty="0">
                <a:solidFill>
                  <a:srgbClr val="E0E4E6"/>
                </a:solidFill>
                <a:latin typeface="Barlow" pitchFamily="34" charset="0"/>
                <a:ea typeface="Barlow" pitchFamily="34" charset="-122"/>
                <a:cs typeface="Barlow" pitchFamily="34" charset="-120"/>
              </a:rPr>
              <a:t>Providing customers with live updates on the professional's location before arrival, service progress, and the current status of the repair.</a:t>
            </a:r>
            <a:endParaRPr lang="en-US" sz="1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7650" y="4636056"/>
            <a:ext cx="448151" cy="448151"/>
          </a:xfrm>
          <a:prstGeom prst="rect">
            <a:avLst/>
          </a:prstGeom>
        </p:spPr>
      </p:pic>
      <p:sp>
        <p:nvSpPr>
          <p:cNvPr id="10" name="Text 5"/>
          <p:cNvSpPr/>
          <p:nvPr/>
        </p:nvSpPr>
        <p:spPr>
          <a:xfrm>
            <a:off x="977650" y="5266492"/>
            <a:ext cx="3198257" cy="248960"/>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Spline Sans Bold" pitchFamily="34" charset="0"/>
                <a:ea typeface="Spline Sans Bold" pitchFamily="34" charset="-122"/>
                <a:cs typeface="Spline Sans Bold" pitchFamily="34" charset="-120"/>
              </a:rPr>
              <a:t>Service Management and Booking</a:t>
            </a:r>
            <a:endParaRPr lang="en-US" sz="1550" dirty="0"/>
          </a:p>
        </p:txBody>
      </p:sp>
      <p:sp>
        <p:nvSpPr>
          <p:cNvPr id="11" name="Text 6"/>
          <p:cNvSpPr/>
          <p:nvPr/>
        </p:nvSpPr>
        <p:spPr>
          <a:xfrm>
            <a:off x="977650" y="5602962"/>
            <a:ext cx="6192560" cy="520303"/>
          </a:xfrm>
          <a:prstGeom prst="rect">
            <a:avLst/>
          </a:prstGeom>
          <a:noFill/>
          <a:ln/>
        </p:spPr>
        <p:txBody>
          <a:bodyPr wrap="square" lIns="0" tIns="0" rIns="0" bIns="0" rtlCol="0" anchor="t"/>
          <a:lstStyle/>
          <a:p>
            <a:pPr marL="0" indent="0" algn="l">
              <a:lnSpc>
                <a:spcPts val="2000"/>
              </a:lnSpc>
              <a:buNone/>
            </a:pPr>
            <a:r>
              <a:rPr lang="en-US" sz="1400" dirty="0">
                <a:solidFill>
                  <a:srgbClr val="E0E4E6"/>
                </a:solidFill>
                <a:latin typeface="Barlow" pitchFamily="34" charset="0"/>
                <a:ea typeface="Barlow" pitchFamily="34" charset="-122"/>
                <a:cs typeface="Barlow" pitchFamily="34" charset="-120"/>
              </a:rPr>
              <a:t>Opening service requests, selecting time slots, and coordinating arrival based on real time availability.</a:t>
            </a:r>
            <a:endParaRPr lang="en-US" sz="14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6283" y="3635931"/>
            <a:ext cx="448151" cy="448151"/>
          </a:xfrm>
          <a:prstGeom prst="rect">
            <a:avLst/>
          </a:prstGeom>
        </p:spPr>
      </p:pic>
      <p:sp>
        <p:nvSpPr>
          <p:cNvPr id="13" name="Text 7"/>
          <p:cNvSpPr/>
          <p:nvPr/>
        </p:nvSpPr>
        <p:spPr>
          <a:xfrm>
            <a:off x="7406283" y="4266367"/>
            <a:ext cx="4120277" cy="248960"/>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Spline Sans Bold" pitchFamily="34" charset="0"/>
                <a:ea typeface="Spline Sans Bold" pitchFamily="34" charset="-122"/>
                <a:cs typeface="Spline Sans Bold" pitchFamily="34" charset="-120"/>
              </a:rPr>
              <a:t>AI based Matching and Classification Engine</a:t>
            </a:r>
            <a:endParaRPr lang="en-US" sz="1550" dirty="0"/>
          </a:p>
        </p:txBody>
      </p:sp>
      <p:sp>
        <p:nvSpPr>
          <p:cNvPr id="14" name="Text 8"/>
          <p:cNvSpPr/>
          <p:nvPr/>
        </p:nvSpPr>
        <p:spPr>
          <a:xfrm>
            <a:off x="7406283" y="4602837"/>
            <a:ext cx="6192560" cy="780455"/>
          </a:xfrm>
          <a:prstGeom prst="rect">
            <a:avLst/>
          </a:prstGeom>
          <a:noFill/>
          <a:ln/>
        </p:spPr>
        <p:txBody>
          <a:bodyPr wrap="square" lIns="0" tIns="0" rIns="0" bIns="0" rtlCol="0" anchor="t"/>
          <a:lstStyle/>
          <a:p>
            <a:pPr marL="0" indent="0" algn="l">
              <a:lnSpc>
                <a:spcPts val="2000"/>
              </a:lnSpc>
              <a:buNone/>
            </a:pPr>
            <a:r>
              <a:rPr lang="en-US" sz="1400" dirty="0">
                <a:solidFill>
                  <a:srgbClr val="E0E4E6"/>
                </a:solidFill>
                <a:latin typeface="Barlow" pitchFamily="34" charset="0"/>
                <a:ea typeface="Barlow" pitchFamily="34" charset="-122"/>
                <a:cs typeface="Barlow" pitchFamily="34" charset="-120"/>
              </a:rPr>
              <a:t>The engine analyzes the customer's request and photo, provides an initial diagnosis, and matches the ideal professional. This analysis is shared with the professional to allow for advance preparation and a more efficient service.</a:t>
            </a:r>
            <a:endParaRPr lang="en-US" sz="14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06283" y="5675114"/>
            <a:ext cx="448151" cy="448151"/>
          </a:xfrm>
          <a:prstGeom prst="rect">
            <a:avLst/>
          </a:prstGeom>
        </p:spPr>
      </p:pic>
      <p:sp>
        <p:nvSpPr>
          <p:cNvPr id="19" name="Text 11"/>
          <p:cNvSpPr/>
          <p:nvPr/>
        </p:nvSpPr>
        <p:spPr>
          <a:xfrm>
            <a:off x="7406283" y="6305550"/>
            <a:ext cx="2220158" cy="248960"/>
          </a:xfrm>
          <a:prstGeom prst="rect">
            <a:avLst/>
          </a:prstGeom>
          <a:noFill/>
          <a:ln/>
        </p:spPr>
        <p:txBody>
          <a:bodyPr wrap="none" lIns="0" tIns="0" rIns="0" bIns="0" rtlCol="0" anchor="t"/>
          <a:lstStyle/>
          <a:p>
            <a:pPr marL="0" indent="0" algn="l">
              <a:lnSpc>
                <a:spcPts val="1950"/>
              </a:lnSpc>
              <a:buNone/>
            </a:pPr>
            <a:r>
              <a:rPr lang="en-US" sz="1550" b="1" dirty="0">
                <a:solidFill>
                  <a:srgbClr val="E0E4E6"/>
                </a:solidFill>
                <a:latin typeface="Spline Sans Bold" pitchFamily="34" charset="0"/>
                <a:ea typeface="Spline Sans Bold" pitchFamily="34" charset="-122"/>
                <a:cs typeface="Spline Sans Bold" pitchFamily="34" charset="-120"/>
              </a:rPr>
              <a:t>SOS Emergency Module</a:t>
            </a:r>
            <a:endParaRPr lang="en-US" sz="1550" dirty="0"/>
          </a:p>
        </p:txBody>
      </p:sp>
      <p:sp>
        <p:nvSpPr>
          <p:cNvPr id="20" name="Text 12"/>
          <p:cNvSpPr/>
          <p:nvPr/>
        </p:nvSpPr>
        <p:spPr>
          <a:xfrm>
            <a:off x="7406283" y="6642021"/>
            <a:ext cx="6192560" cy="520303"/>
          </a:xfrm>
          <a:prstGeom prst="rect">
            <a:avLst/>
          </a:prstGeom>
          <a:noFill/>
          <a:ln/>
        </p:spPr>
        <p:txBody>
          <a:bodyPr wrap="square" lIns="0" tIns="0" rIns="0" bIns="0" rtlCol="0" anchor="t"/>
          <a:lstStyle/>
          <a:p>
            <a:pPr marL="0" indent="0" algn="l">
              <a:lnSpc>
                <a:spcPts val="2000"/>
              </a:lnSpc>
              <a:buNone/>
            </a:pPr>
            <a:r>
              <a:rPr lang="en-US" sz="1400" dirty="0">
                <a:solidFill>
                  <a:srgbClr val="E0E4E6"/>
                </a:solidFill>
                <a:latin typeface="Barlow" pitchFamily="34" charset="0"/>
                <a:ea typeface="Barlow" pitchFamily="34" charset="-122"/>
                <a:cs typeface="Barlow" pitchFamily="34" charset="-120"/>
              </a:rPr>
              <a:t>Enables customers to book a professional immediately from a list of currently available experts.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585210" y="686395"/>
            <a:ext cx="7459980" cy="533400"/>
          </a:xfrm>
          <a:prstGeom prst="rect">
            <a:avLst/>
          </a:prstGeom>
          <a:noFill/>
          <a:ln/>
        </p:spPr>
        <p:txBody>
          <a:bodyPr wrap="none" lIns="0" tIns="0" rIns="0" bIns="0" rtlCol="0" anchor="t"/>
          <a:lstStyle/>
          <a:p>
            <a:pPr marL="0" indent="0" algn="ctr">
              <a:lnSpc>
                <a:spcPts val="4200"/>
              </a:lnSpc>
              <a:buNone/>
            </a:pPr>
            <a:r>
              <a:rPr lang="en-US" sz="3350" b="1" dirty="0">
                <a:solidFill>
                  <a:srgbClr val="F0FCFF"/>
                </a:solidFill>
                <a:latin typeface="Spline Sans Bold" pitchFamily="34" charset="0"/>
                <a:ea typeface="Spline Sans Bold" pitchFamily="34" charset="-122"/>
                <a:cs typeface="Spline Sans Bold" pitchFamily="34" charset="-120"/>
              </a:rPr>
              <a:t>Solution Description - Impact Metrics</a:t>
            </a:r>
            <a:endParaRPr lang="en-US" sz="3350" dirty="0"/>
          </a:p>
        </p:txBody>
      </p:sp>
      <p:sp>
        <p:nvSpPr>
          <p:cNvPr id="3" name="Shape 1"/>
          <p:cNvSpPr/>
          <p:nvPr/>
        </p:nvSpPr>
        <p:spPr>
          <a:xfrm>
            <a:off x="768072" y="1554480"/>
            <a:ext cx="13094256" cy="1371719"/>
          </a:xfrm>
          <a:prstGeom prst="roundRect">
            <a:avLst>
              <a:gd name="adj" fmla="val 20998"/>
            </a:avLst>
          </a:prstGeom>
          <a:solidFill>
            <a:srgbClr val="0A081B"/>
          </a:solidFill>
          <a:ln w="22860">
            <a:solidFill>
              <a:srgbClr val="16FFBB"/>
            </a:solidFill>
            <a:prstDash val="solid"/>
          </a:ln>
        </p:spPr>
        <p:txBody>
          <a:bodyPr/>
          <a:lstStyle/>
          <a:p>
            <a:endParaRPr lang="he-IL"/>
          </a:p>
        </p:txBody>
      </p:sp>
      <p:sp>
        <p:nvSpPr>
          <p:cNvPr id="4" name="Text 2"/>
          <p:cNvSpPr/>
          <p:nvPr/>
        </p:nvSpPr>
        <p:spPr>
          <a:xfrm>
            <a:off x="982861" y="1769269"/>
            <a:ext cx="2315885" cy="266700"/>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What – Social Outcome</a:t>
            </a:r>
            <a:endParaRPr lang="en-US" sz="1650" dirty="0"/>
          </a:p>
        </p:txBody>
      </p:sp>
      <p:sp>
        <p:nvSpPr>
          <p:cNvPr id="5" name="Text 3"/>
          <p:cNvSpPr/>
          <p:nvPr/>
        </p:nvSpPr>
        <p:spPr>
          <a:xfrm>
            <a:off x="982861" y="2136338"/>
            <a:ext cx="12664678" cy="575072"/>
          </a:xfrm>
          <a:prstGeom prst="rect">
            <a:avLst/>
          </a:prstGeom>
          <a:noFill/>
          <a:ln/>
        </p:spPr>
        <p:txBody>
          <a:bodyPr wrap="square" lIns="0" tIns="0" rIns="0" bIns="0" rtlCol="0" anchor="t"/>
          <a:lstStyle/>
          <a:p>
            <a:pPr marL="0" indent="0" algn="l">
              <a:lnSpc>
                <a:spcPts val="2250"/>
              </a:lnSpc>
              <a:buNone/>
            </a:pPr>
            <a:r>
              <a:rPr lang="en-US" sz="1500" dirty="0">
                <a:solidFill>
                  <a:srgbClr val="E0E4E6"/>
                </a:solidFill>
                <a:latin typeface="Barlow" pitchFamily="34" charset="0"/>
                <a:ea typeface="Barlow" pitchFamily="34" charset="-122"/>
                <a:cs typeface="Barlow" pitchFamily="34" charset="-120"/>
              </a:rPr>
              <a:t>The platform improves the process of finding professionals through an initial diagnosis of the issue, rapid matching with the suitable professional, and transforming a complicated and outdated process into a digital and accessible one.</a:t>
            </a:r>
            <a:endParaRPr lang="en-US" sz="1500" dirty="0"/>
          </a:p>
        </p:txBody>
      </p:sp>
      <p:sp>
        <p:nvSpPr>
          <p:cNvPr id="6" name="Shape 4"/>
          <p:cNvSpPr/>
          <p:nvPr/>
        </p:nvSpPr>
        <p:spPr>
          <a:xfrm>
            <a:off x="768072" y="3093482"/>
            <a:ext cx="13094256" cy="1371719"/>
          </a:xfrm>
          <a:prstGeom prst="roundRect">
            <a:avLst>
              <a:gd name="adj" fmla="val 20998"/>
            </a:avLst>
          </a:prstGeom>
          <a:solidFill>
            <a:srgbClr val="0A081B"/>
          </a:solidFill>
          <a:ln w="22860">
            <a:solidFill>
              <a:srgbClr val="16FFBB"/>
            </a:solidFill>
            <a:prstDash val="solid"/>
          </a:ln>
        </p:spPr>
        <p:txBody>
          <a:bodyPr/>
          <a:lstStyle/>
          <a:p>
            <a:endParaRPr lang="he-IL"/>
          </a:p>
        </p:txBody>
      </p:sp>
      <p:sp>
        <p:nvSpPr>
          <p:cNvPr id="7" name="Text 5"/>
          <p:cNvSpPr/>
          <p:nvPr/>
        </p:nvSpPr>
        <p:spPr>
          <a:xfrm>
            <a:off x="982861" y="3308271"/>
            <a:ext cx="2133600" cy="266700"/>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Who – Stakeholders</a:t>
            </a:r>
            <a:endParaRPr lang="en-US" sz="1650" dirty="0"/>
          </a:p>
        </p:txBody>
      </p:sp>
      <p:sp>
        <p:nvSpPr>
          <p:cNvPr id="8" name="Text 6"/>
          <p:cNvSpPr/>
          <p:nvPr/>
        </p:nvSpPr>
        <p:spPr>
          <a:xfrm>
            <a:off x="982861" y="3675340"/>
            <a:ext cx="12664678" cy="575072"/>
          </a:xfrm>
          <a:prstGeom prst="rect">
            <a:avLst/>
          </a:prstGeom>
          <a:noFill/>
          <a:ln/>
        </p:spPr>
        <p:txBody>
          <a:bodyPr wrap="square" lIns="0" tIns="0" rIns="0" bIns="0" rtlCol="0" anchor="t"/>
          <a:lstStyle/>
          <a:p>
            <a:pPr marL="0" indent="0" algn="l">
              <a:lnSpc>
                <a:spcPts val="2250"/>
              </a:lnSpc>
              <a:buNone/>
            </a:pPr>
            <a:r>
              <a:rPr lang="en-US" sz="1500" dirty="0">
                <a:solidFill>
                  <a:srgbClr val="E0E4E6"/>
                </a:solidFill>
                <a:latin typeface="Barlow" pitchFamily="34" charset="0"/>
                <a:ea typeface="Barlow" pitchFamily="34" charset="-122"/>
                <a:cs typeface="Barlow" pitchFamily="34" charset="-120"/>
              </a:rPr>
              <a:t>The system is intended for customers looking for a fast solution to an issue, and for professionals interested in receiving relevant inquiries and managing their work more efficiently. </a:t>
            </a:r>
            <a:endParaRPr lang="en-US" sz="1500" dirty="0"/>
          </a:p>
        </p:txBody>
      </p:sp>
      <p:sp>
        <p:nvSpPr>
          <p:cNvPr id="9" name="Shape 7"/>
          <p:cNvSpPr/>
          <p:nvPr/>
        </p:nvSpPr>
        <p:spPr>
          <a:xfrm>
            <a:off x="768072" y="4632484"/>
            <a:ext cx="13094256" cy="1371719"/>
          </a:xfrm>
          <a:prstGeom prst="roundRect">
            <a:avLst>
              <a:gd name="adj" fmla="val 20998"/>
            </a:avLst>
          </a:prstGeom>
          <a:solidFill>
            <a:srgbClr val="0A081B"/>
          </a:solidFill>
          <a:ln w="22860">
            <a:solidFill>
              <a:srgbClr val="29DDDA"/>
            </a:solidFill>
            <a:prstDash val="solid"/>
          </a:ln>
        </p:spPr>
        <p:txBody>
          <a:bodyPr/>
          <a:lstStyle/>
          <a:p>
            <a:endParaRPr lang="he-IL"/>
          </a:p>
        </p:txBody>
      </p:sp>
      <p:sp>
        <p:nvSpPr>
          <p:cNvPr id="10" name="Text 8"/>
          <p:cNvSpPr/>
          <p:nvPr/>
        </p:nvSpPr>
        <p:spPr>
          <a:xfrm>
            <a:off x="982861" y="4847273"/>
            <a:ext cx="2133600" cy="266700"/>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How Much – Impact</a:t>
            </a:r>
            <a:endParaRPr lang="en-US" sz="1650" dirty="0"/>
          </a:p>
        </p:txBody>
      </p:sp>
      <p:sp>
        <p:nvSpPr>
          <p:cNvPr id="11" name="Text 9"/>
          <p:cNvSpPr/>
          <p:nvPr/>
        </p:nvSpPr>
        <p:spPr>
          <a:xfrm>
            <a:off x="982861" y="5214342"/>
            <a:ext cx="12664678" cy="575072"/>
          </a:xfrm>
          <a:prstGeom prst="rect">
            <a:avLst/>
          </a:prstGeom>
          <a:noFill/>
          <a:ln/>
        </p:spPr>
        <p:txBody>
          <a:bodyPr wrap="square" lIns="0" tIns="0" rIns="0" bIns="0" rtlCol="0" anchor="t"/>
          <a:lstStyle/>
          <a:p>
            <a:pPr marL="0" indent="0" algn="l">
              <a:lnSpc>
                <a:spcPts val="2250"/>
              </a:lnSpc>
              <a:buNone/>
            </a:pPr>
            <a:r>
              <a:rPr lang="en-US" sz="1500" dirty="0">
                <a:solidFill>
                  <a:srgbClr val="E0E4E6"/>
                </a:solidFill>
                <a:latin typeface="Barlow" pitchFamily="34" charset="0"/>
                <a:ea typeface="Barlow" pitchFamily="34" charset="-122"/>
                <a:cs typeface="Barlow" pitchFamily="34" charset="-120"/>
              </a:rPr>
              <a:t>The system is expected to shorten the time it takes to find a professional, improve matching accuracy, and reduce uncertainty throughout the service process. </a:t>
            </a:r>
            <a:endParaRPr lang="en-US" sz="1500" dirty="0"/>
          </a:p>
        </p:txBody>
      </p:sp>
      <p:sp>
        <p:nvSpPr>
          <p:cNvPr id="12" name="Shape 10"/>
          <p:cNvSpPr/>
          <p:nvPr/>
        </p:nvSpPr>
        <p:spPr>
          <a:xfrm>
            <a:off x="768072" y="6171486"/>
            <a:ext cx="13094256" cy="1371719"/>
          </a:xfrm>
          <a:prstGeom prst="roundRect">
            <a:avLst>
              <a:gd name="adj" fmla="val 20998"/>
            </a:avLst>
          </a:prstGeom>
          <a:solidFill>
            <a:srgbClr val="0A081B"/>
          </a:solidFill>
          <a:ln w="22860">
            <a:solidFill>
              <a:srgbClr val="37A7E7"/>
            </a:solidFill>
            <a:prstDash val="solid"/>
          </a:ln>
        </p:spPr>
        <p:txBody>
          <a:bodyPr/>
          <a:lstStyle/>
          <a:p>
            <a:endParaRPr lang="he-IL"/>
          </a:p>
        </p:txBody>
      </p:sp>
      <p:sp>
        <p:nvSpPr>
          <p:cNvPr id="13" name="Text 11"/>
          <p:cNvSpPr/>
          <p:nvPr/>
        </p:nvSpPr>
        <p:spPr>
          <a:xfrm>
            <a:off x="982861" y="6386274"/>
            <a:ext cx="2785110" cy="266700"/>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Contribution – Unique Value</a:t>
            </a:r>
            <a:endParaRPr lang="en-US" sz="1650" dirty="0"/>
          </a:p>
        </p:txBody>
      </p:sp>
      <p:sp>
        <p:nvSpPr>
          <p:cNvPr id="14" name="Text 12"/>
          <p:cNvSpPr/>
          <p:nvPr/>
        </p:nvSpPr>
        <p:spPr>
          <a:xfrm>
            <a:off x="982861" y="6753344"/>
            <a:ext cx="12664678" cy="575072"/>
          </a:xfrm>
          <a:prstGeom prst="rect">
            <a:avLst/>
          </a:prstGeom>
          <a:noFill/>
          <a:ln/>
        </p:spPr>
        <p:txBody>
          <a:bodyPr wrap="square" lIns="0" tIns="0" rIns="0" bIns="0" rtlCol="0" anchor="t"/>
          <a:lstStyle/>
          <a:p>
            <a:pPr marL="0" indent="0" algn="l">
              <a:lnSpc>
                <a:spcPts val="2250"/>
              </a:lnSpc>
              <a:buNone/>
            </a:pPr>
            <a:r>
              <a:rPr lang="en-US" sz="1500" dirty="0">
                <a:solidFill>
                  <a:srgbClr val="E0E4E6"/>
                </a:solidFill>
                <a:latin typeface="Barlow" pitchFamily="34" charset="0"/>
                <a:ea typeface="Barlow" pitchFamily="34" charset="-122"/>
                <a:cs typeface="Barlow" pitchFamily="34" charset="-120"/>
              </a:rPr>
              <a:t>Pronto centralizes the entire service process in one platform – from initial diagnosis via AI, through professional matching and receiving price quotes, to work coordination, arrival payment, and service completion.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2362" y="877848"/>
            <a:ext cx="5058013" cy="557213"/>
          </a:xfrm>
          <a:prstGeom prst="rect">
            <a:avLst/>
          </a:prstGeom>
          <a:noFill/>
          <a:ln/>
        </p:spPr>
        <p:txBody>
          <a:bodyPr wrap="none" lIns="0" tIns="0" rIns="0" bIns="0" rtlCol="0" anchor="t"/>
          <a:lstStyle/>
          <a:p>
            <a:pPr marL="0" indent="0" algn="l">
              <a:lnSpc>
                <a:spcPts val="4350"/>
              </a:lnSpc>
              <a:buNone/>
            </a:pPr>
            <a:r>
              <a:rPr lang="en-US" sz="3500" b="1" dirty="0">
                <a:solidFill>
                  <a:srgbClr val="F0FCFF"/>
                </a:solidFill>
                <a:latin typeface="Spline Sans Bold" pitchFamily="34" charset="0"/>
                <a:ea typeface="Spline Sans Bold" pitchFamily="34" charset="-122"/>
                <a:cs typeface="Spline Sans Bold" pitchFamily="34" charset="-120"/>
              </a:rPr>
              <a:t>Competitor Comparison</a:t>
            </a:r>
            <a:endParaRPr lang="en-US" sz="3500" dirty="0"/>
          </a:p>
        </p:txBody>
      </p:sp>
      <p:sp>
        <p:nvSpPr>
          <p:cNvPr id="3" name="Shape 1"/>
          <p:cNvSpPr/>
          <p:nvPr/>
        </p:nvSpPr>
        <p:spPr>
          <a:xfrm>
            <a:off x="802362" y="1800344"/>
            <a:ext cx="13025676" cy="5551289"/>
          </a:xfrm>
          <a:prstGeom prst="roundRect">
            <a:avLst>
              <a:gd name="adj" fmla="val 5421"/>
            </a:avLst>
          </a:prstGeom>
          <a:noFill/>
          <a:ln w="7620">
            <a:solidFill>
              <a:srgbClr val="FFFFFF">
                <a:alpha val="24000"/>
              </a:srgbClr>
            </a:solidFill>
            <a:prstDash val="solid"/>
          </a:ln>
        </p:spPr>
        <p:txBody>
          <a:bodyPr/>
          <a:lstStyle/>
          <a:p>
            <a:endParaRPr lang="he-IL"/>
          </a:p>
        </p:txBody>
      </p:sp>
      <p:sp>
        <p:nvSpPr>
          <p:cNvPr id="4" name="Shape 2"/>
          <p:cNvSpPr/>
          <p:nvPr/>
        </p:nvSpPr>
        <p:spPr>
          <a:xfrm>
            <a:off x="809982" y="1807964"/>
            <a:ext cx="13010436" cy="540901"/>
          </a:xfrm>
          <a:prstGeom prst="rect">
            <a:avLst/>
          </a:prstGeom>
          <a:solidFill>
            <a:srgbClr val="FFFFFF">
              <a:alpha val="4000"/>
            </a:srgbClr>
          </a:solidFill>
          <a:ln/>
        </p:spPr>
        <p:txBody>
          <a:bodyPr/>
          <a:lstStyle/>
          <a:p>
            <a:endParaRPr lang="he-IL"/>
          </a:p>
        </p:txBody>
      </p:sp>
      <p:sp>
        <p:nvSpPr>
          <p:cNvPr id="5" name="Text 3"/>
          <p:cNvSpPr/>
          <p:nvPr/>
        </p:nvSpPr>
        <p:spPr>
          <a:xfrm>
            <a:off x="1010722" y="1925122"/>
            <a:ext cx="1391841"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Solution</a:t>
            </a:r>
            <a:endParaRPr lang="en-US" sz="1550" dirty="0"/>
          </a:p>
        </p:txBody>
      </p:sp>
      <p:sp>
        <p:nvSpPr>
          <p:cNvPr id="6" name="Text 4"/>
          <p:cNvSpPr/>
          <p:nvPr/>
        </p:nvSpPr>
        <p:spPr>
          <a:xfrm>
            <a:off x="2811185" y="1925122"/>
            <a:ext cx="2630567"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Method</a:t>
            </a:r>
            <a:endParaRPr lang="en-US" sz="1550" dirty="0"/>
          </a:p>
        </p:txBody>
      </p:sp>
      <p:sp>
        <p:nvSpPr>
          <p:cNvPr id="7" name="Text 5"/>
          <p:cNvSpPr/>
          <p:nvPr/>
        </p:nvSpPr>
        <p:spPr>
          <a:xfrm>
            <a:off x="5850374" y="1925122"/>
            <a:ext cx="4243864"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Main Disadvantages</a:t>
            </a:r>
            <a:endParaRPr lang="en-US" sz="1550" dirty="0"/>
          </a:p>
        </p:txBody>
      </p:sp>
      <p:sp>
        <p:nvSpPr>
          <p:cNvPr id="8" name="Text 6"/>
          <p:cNvSpPr/>
          <p:nvPr/>
        </p:nvSpPr>
        <p:spPr>
          <a:xfrm>
            <a:off x="10502860" y="1925122"/>
            <a:ext cx="3117056"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Our Advantage</a:t>
            </a:r>
            <a:endParaRPr lang="en-US" sz="1550" dirty="0"/>
          </a:p>
        </p:txBody>
      </p:sp>
      <p:sp>
        <p:nvSpPr>
          <p:cNvPr id="9" name="Shape 7"/>
          <p:cNvSpPr/>
          <p:nvPr/>
        </p:nvSpPr>
        <p:spPr>
          <a:xfrm>
            <a:off x="809982" y="2348865"/>
            <a:ext cx="13010436" cy="1767245"/>
          </a:xfrm>
          <a:prstGeom prst="rect">
            <a:avLst/>
          </a:prstGeom>
          <a:solidFill>
            <a:srgbClr val="000000">
              <a:alpha val="4000"/>
            </a:srgbClr>
          </a:solidFill>
          <a:ln/>
        </p:spPr>
        <p:txBody>
          <a:bodyPr/>
          <a:lstStyle/>
          <a:p>
            <a:endParaRPr lang="he-IL"/>
          </a:p>
        </p:txBody>
      </p:sp>
      <p:sp>
        <p:nvSpPr>
          <p:cNvPr id="10" name="Text 8"/>
          <p:cNvSpPr/>
          <p:nvPr/>
        </p:nvSpPr>
        <p:spPr>
          <a:xfrm>
            <a:off x="1010722" y="2466023"/>
            <a:ext cx="1391841"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Easy</a:t>
            </a:r>
            <a:endParaRPr lang="en-US" sz="1550" dirty="0"/>
          </a:p>
        </p:txBody>
      </p:sp>
      <p:sp>
        <p:nvSpPr>
          <p:cNvPr id="11" name="Text 9"/>
          <p:cNvSpPr/>
          <p:nvPr/>
        </p:nvSpPr>
        <p:spPr>
          <a:xfrm>
            <a:off x="2811185" y="2466023"/>
            <a:ext cx="2630567" cy="919758"/>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App to find businesses and professionals by location, ratings, and user reviews.</a:t>
            </a:r>
            <a:endParaRPr lang="en-US" sz="1550" dirty="0"/>
          </a:p>
        </p:txBody>
      </p:sp>
      <p:sp>
        <p:nvSpPr>
          <p:cNvPr id="12" name="Text 10"/>
          <p:cNvSpPr/>
          <p:nvPr/>
        </p:nvSpPr>
        <p:spPr>
          <a:xfrm>
            <a:off x="5850374" y="2466023"/>
            <a:ext cx="4243864" cy="1226344"/>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No diagnosis of the issue, no real-time information on location or arrival of the professional, and no management of the service process after finding the business.</a:t>
            </a:r>
            <a:endParaRPr lang="en-US" sz="1550" dirty="0"/>
          </a:p>
        </p:txBody>
      </p:sp>
      <p:sp>
        <p:nvSpPr>
          <p:cNvPr id="13" name="Text 11"/>
          <p:cNvSpPr/>
          <p:nvPr/>
        </p:nvSpPr>
        <p:spPr>
          <a:xfrm>
            <a:off x="10502860" y="2466023"/>
            <a:ext cx="3117056" cy="1532930"/>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AI engine that diagnoses the issue based on description and photo, matching to a suitable professional, and real time tracking of arrival time.</a:t>
            </a:r>
            <a:endParaRPr lang="en-US" sz="1550" dirty="0"/>
          </a:p>
        </p:txBody>
      </p:sp>
      <p:sp>
        <p:nvSpPr>
          <p:cNvPr id="14" name="Shape 12"/>
          <p:cNvSpPr/>
          <p:nvPr/>
        </p:nvSpPr>
        <p:spPr>
          <a:xfrm>
            <a:off x="809982" y="4116110"/>
            <a:ext cx="13010436" cy="1460659"/>
          </a:xfrm>
          <a:prstGeom prst="rect">
            <a:avLst/>
          </a:prstGeom>
          <a:solidFill>
            <a:srgbClr val="FFFFFF">
              <a:alpha val="4000"/>
            </a:srgbClr>
          </a:solidFill>
          <a:ln/>
        </p:spPr>
        <p:txBody>
          <a:bodyPr/>
          <a:lstStyle/>
          <a:p>
            <a:endParaRPr lang="he-IL"/>
          </a:p>
        </p:txBody>
      </p:sp>
      <p:sp>
        <p:nvSpPr>
          <p:cNvPr id="15" name="Text 13"/>
          <p:cNvSpPr/>
          <p:nvPr/>
        </p:nvSpPr>
        <p:spPr>
          <a:xfrm>
            <a:off x="1010722" y="4233267"/>
            <a:ext cx="1391841"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Midrag</a:t>
            </a:r>
            <a:endParaRPr lang="en-US" sz="1550" dirty="0"/>
          </a:p>
        </p:txBody>
      </p:sp>
      <p:sp>
        <p:nvSpPr>
          <p:cNvPr id="16" name="Text 14"/>
          <p:cNvSpPr/>
          <p:nvPr/>
        </p:nvSpPr>
        <p:spPr>
          <a:xfrm>
            <a:off x="2811185" y="4233267"/>
            <a:ext cx="2630567" cy="919758"/>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Platform for finding professionals based on ratings and customer reviews.</a:t>
            </a:r>
            <a:endParaRPr lang="en-US" sz="1550" dirty="0"/>
          </a:p>
        </p:txBody>
      </p:sp>
      <p:sp>
        <p:nvSpPr>
          <p:cNvPr id="17" name="Text 15"/>
          <p:cNvSpPr/>
          <p:nvPr/>
        </p:nvSpPr>
        <p:spPr>
          <a:xfrm>
            <a:off x="5850374" y="4233267"/>
            <a:ext cx="4243864" cy="1226344"/>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The customer must understand the issue themselves and which professional to contact, and there is no real time information on availability or arrival time.</a:t>
            </a:r>
            <a:endParaRPr lang="en-US" sz="1550" dirty="0"/>
          </a:p>
        </p:txBody>
      </p:sp>
      <p:sp>
        <p:nvSpPr>
          <p:cNvPr id="18" name="Text 16"/>
          <p:cNvSpPr/>
          <p:nvPr/>
        </p:nvSpPr>
        <p:spPr>
          <a:xfrm>
            <a:off x="10502860" y="4233267"/>
            <a:ext cx="3117056" cy="1226344"/>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Smart diagnosis of the issue and automatic matching to the relevant professional, along with information on availability and arrival time.</a:t>
            </a:r>
            <a:endParaRPr lang="en-US" sz="1550" dirty="0"/>
          </a:p>
        </p:txBody>
      </p:sp>
      <p:sp>
        <p:nvSpPr>
          <p:cNvPr id="19" name="Shape 17"/>
          <p:cNvSpPr/>
          <p:nvPr/>
        </p:nvSpPr>
        <p:spPr>
          <a:xfrm>
            <a:off x="809982" y="5576768"/>
            <a:ext cx="13010436" cy="1767245"/>
          </a:xfrm>
          <a:prstGeom prst="rect">
            <a:avLst/>
          </a:prstGeom>
          <a:solidFill>
            <a:srgbClr val="000000">
              <a:alpha val="4000"/>
            </a:srgbClr>
          </a:solidFill>
          <a:ln/>
        </p:spPr>
        <p:txBody>
          <a:bodyPr/>
          <a:lstStyle/>
          <a:p>
            <a:endParaRPr lang="he-IL"/>
          </a:p>
        </p:txBody>
      </p:sp>
      <p:sp>
        <p:nvSpPr>
          <p:cNvPr id="20" name="Text 18"/>
          <p:cNvSpPr/>
          <p:nvPr/>
        </p:nvSpPr>
        <p:spPr>
          <a:xfrm>
            <a:off x="1010722" y="5693926"/>
            <a:ext cx="1391841" cy="306586"/>
          </a:xfrm>
          <a:prstGeom prst="rect">
            <a:avLst/>
          </a:prstGeom>
          <a:noFill/>
          <a:ln/>
        </p:spPr>
        <p:txBody>
          <a:bodyPr wrap="non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Professionals</a:t>
            </a:r>
            <a:endParaRPr lang="en-US" sz="1550" dirty="0"/>
          </a:p>
        </p:txBody>
      </p:sp>
      <p:sp>
        <p:nvSpPr>
          <p:cNvPr id="21" name="Text 19"/>
          <p:cNvSpPr/>
          <p:nvPr/>
        </p:nvSpPr>
        <p:spPr>
          <a:xfrm>
            <a:off x="2811185" y="5693926"/>
            <a:ext cx="2630567" cy="1226344"/>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Website for booking professionals with reviews, price lists, and responsibility for the service.</a:t>
            </a:r>
            <a:endParaRPr lang="en-US" sz="1550" dirty="0"/>
          </a:p>
        </p:txBody>
      </p:sp>
      <p:sp>
        <p:nvSpPr>
          <p:cNvPr id="22" name="Text 20"/>
          <p:cNvSpPr/>
          <p:nvPr/>
        </p:nvSpPr>
        <p:spPr>
          <a:xfrm>
            <a:off x="5850374" y="5693926"/>
            <a:ext cx="4243864" cy="1532930"/>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No real-time tracking of the professional, no schedule management and no emergency booking mechanism, and prices are based on a general price list rather than competition between professionals.</a:t>
            </a:r>
            <a:endParaRPr lang="en-US" sz="1550" dirty="0"/>
          </a:p>
        </p:txBody>
      </p:sp>
      <p:sp>
        <p:nvSpPr>
          <p:cNvPr id="23" name="Text 21"/>
          <p:cNvSpPr/>
          <p:nvPr/>
        </p:nvSpPr>
        <p:spPr>
          <a:xfrm>
            <a:off x="10502860" y="5693926"/>
            <a:ext cx="3117056" cy="1532930"/>
          </a:xfrm>
          <a:prstGeom prst="rect">
            <a:avLst/>
          </a:prstGeom>
          <a:noFill/>
          <a:ln/>
        </p:spPr>
        <p:txBody>
          <a:bodyPr wrap="square" lIns="0" tIns="0" rIns="0" bIns="0" rtlCol="0" anchor="t"/>
          <a:lstStyle/>
          <a:p>
            <a:pPr marL="0" indent="0" algn="l">
              <a:lnSpc>
                <a:spcPts val="2400"/>
              </a:lnSpc>
              <a:buNone/>
            </a:pPr>
            <a:r>
              <a:rPr lang="en-US" sz="1550" dirty="0">
                <a:solidFill>
                  <a:srgbClr val="E0E4E6"/>
                </a:solidFill>
                <a:latin typeface="Barlow" pitchFamily="34" charset="0"/>
                <a:ea typeface="Barlow" pitchFamily="34" charset="-122"/>
                <a:cs typeface="Barlow" pitchFamily="34" charset="-120"/>
              </a:rPr>
              <a:t>Professional schedule management, real time alerts, arrival tracking, SOS mechanism, and the option to receive several price quotes.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1063" y="1682115"/>
            <a:ext cx="5862757" cy="489466"/>
          </a:xfrm>
          <a:prstGeom prst="rect">
            <a:avLst/>
          </a:prstGeom>
          <a:noFill/>
          <a:ln/>
        </p:spPr>
        <p:txBody>
          <a:bodyPr wrap="none" lIns="0" tIns="0" rIns="0" bIns="0" rtlCol="0" anchor="t"/>
          <a:lstStyle/>
          <a:p>
            <a:pPr marL="0" indent="0" algn="l">
              <a:lnSpc>
                <a:spcPts val="3850"/>
              </a:lnSpc>
              <a:buNone/>
            </a:pPr>
            <a:r>
              <a:rPr lang="en-US" sz="3050" b="1" dirty="0">
                <a:solidFill>
                  <a:srgbClr val="F0FCFF"/>
                </a:solidFill>
                <a:latin typeface="Spline Sans Bold" pitchFamily="34" charset="0"/>
                <a:ea typeface="Spline Sans Bold" pitchFamily="34" charset="-122"/>
                <a:cs typeface="Spline Sans Bold" pitchFamily="34" charset="-120"/>
              </a:rPr>
              <a:t>Team Roles and Responsibilities</a:t>
            </a:r>
            <a:endParaRPr lang="en-US" sz="3050" dirty="0"/>
          </a:p>
        </p:txBody>
      </p:sp>
      <p:sp>
        <p:nvSpPr>
          <p:cNvPr id="3" name="Shape 1"/>
          <p:cNvSpPr/>
          <p:nvPr/>
        </p:nvSpPr>
        <p:spPr>
          <a:xfrm>
            <a:off x="881063" y="2612112"/>
            <a:ext cx="495657" cy="495657"/>
          </a:xfrm>
          <a:prstGeom prst="roundRect">
            <a:avLst>
              <a:gd name="adj" fmla="val 66668"/>
            </a:avLst>
          </a:prstGeom>
          <a:solidFill>
            <a:srgbClr val="0A081B"/>
          </a:solidFill>
          <a:ln w="22860">
            <a:solidFill>
              <a:srgbClr val="16FFBB"/>
            </a:solidFill>
            <a:prstDash val="solid"/>
          </a:ln>
        </p:spPr>
        <p:txBody>
          <a:bodyPr/>
          <a:lstStyle/>
          <a:p>
            <a:endParaRPr lang="he-IL"/>
          </a:p>
        </p:txBody>
      </p:sp>
      <p:sp>
        <p:nvSpPr>
          <p:cNvPr id="4" name="Text 2"/>
          <p:cNvSpPr/>
          <p:nvPr/>
        </p:nvSpPr>
        <p:spPr>
          <a:xfrm>
            <a:off x="1596985" y="2687836"/>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Yuval Harel</a:t>
            </a:r>
            <a:endParaRPr lang="en-US" sz="1900" dirty="0"/>
          </a:p>
        </p:txBody>
      </p:sp>
      <p:sp>
        <p:nvSpPr>
          <p:cNvPr id="5" name="Text 3"/>
          <p:cNvSpPr/>
          <p:nvPr/>
        </p:nvSpPr>
        <p:spPr>
          <a:xfrm>
            <a:off x="1596985" y="3125986"/>
            <a:ext cx="5580578" cy="140970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Frontend and User Experience Development – developing the web interface for users and professionals, API integration, implementation of booking screens, status updates, and schedule displays.</a:t>
            </a:r>
            <a:endParaRPr lang="en-US" sz="1700" dirty="0"/>
          </a:p>
        </p:txBody>
      </p:sp>
      <p:sp>
        <p:nvSpPr>
          <p:cNvPr id="6" name="Shape 4"/>
          <p:cNvSpPr/>
          <p:nvPr/>
        </p:nvSpPr>
        <p:spPr>
          <a:xfrm>
            <a:off x="7452836" y="2612112"/>
            <a:ext cx="495657" cy="495657"/>
          </a:xfrm>
          <a:prstGeom prst="roundRect">
            <a:avLst>
              <a:gd name="adj" fmla="val 66668"/>
            </a:avLst>
          </a:prstGeom>
          <a:solidFill>
            <a:srgbClr val="0A081B"/>
          </a:solidFill>
          <a:ln w="22860">
            <a:solidFill>
              <a:srgbClr val="16FFBB"/>
            </a:solidFill>
            <a:prstDash val="solid"/>
          </a:ln>
        </p:spPr>
        <p:txBody>
          <a:bodyPr/>
          <a:lstStyle/>
          <a:p>
            <a:endParaRPr lang="he-IL"/>
          </a:p>
        </p:txBody>
      </p:sp>
      <p:sp>
        <p:nvSpPr>
          <p:cNvPr id="7" name="Text 5"/>
          <p:cNvSpPr/>
          <p:nvPr/>
        </p:nvSpPr>
        <p:spPr>
          <a:xfrm>
            <a:off x="8168759" y="2687836"/>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Or Cohen</a:t>
            </a:r>
            <a:endParaRPr lang="en-US" sz="1900" dirty="0"/>
          </a:p>
        </p:txBody>
      </p:sp>
      <p:sp>
        <p:nvSpPr>
          <p:cNvPr id="8" name="Text 6"/>
          <p:cNvSpPr/>
          <p:nvPr/>
        </p:nvSpPr>
        <p:spPr>
          <a:xfrm>
            <a:off x="8168759" y="3125986"/>
            <a:ext cx="5580578" cy="1057275"/>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Backend and System Architecture Development – server side implementation, database management, API development, scheduling system, and real time logic.</a:t>
            </a:r>
            <a:endParaRPr lang="en-US" sz="1700" dirty="0"/>
          </a:p>
        </p:txBody>
      </p:sp>
      <p:sp>
        <p:nvSpPr>
          <p:cNvPr id="9" name="Shape 7"/>
          <p:cNvSpPr/>
          <p:nvPr/>
        </p:nvSpPr>
        <p:spPr>
          <a:xfrm>
            <a:off x="881063" y="4976217"/>
            <a:ext cx="495657" cy="495657"/>
          </a:xfrm>
          <a:prstGeom prst="roundRect">
            <a:avLst>
              <a:gd name="adj" fmla="val 66668"/>
            </a:avLst>
          </a:prstGeom>
          <a:solidFill>
            <a:srgbClr val="0A081B"/>
          </a:solidFill>
          <a:ln w="22860">
            <a:solidFill>
              <a:srgbClr val="29DDDA"/>
            </a:solidFill>
            <a:prstDash val="solid"/>
          </a:ln>
        </p:spPr>
        <p:txBody>
          <a:bodyPr/>
          <a:lstStyle/>
          <a:p>
            <a:endParaRPr lang="he-IL"/>
          </a:p>
        </p:txBody>
      </p:sp>
      <p:sp>
        <p:nvSpPr>
          <p:cNvPr id="10" name="Text 8"/>
          <p:cNvSpPr/>
          <p:nvPr/>
        </p:nvSpPr>
        <p:spPr>
          <a:xfrm>
            <a:off x="1596985" y="5051941"/>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Netanel Dahan</a:t>
            </a:r>
            <a:endParaRPr lang="en-US" sz="1900" dirty="0"/>
          </a:p>
        </p:txBody>
      </p:sp>
      <p:sp>
        <p:nvSpPr>
          <p:cNvPr id="11" name="Text 9"/>
          <p:cNvSpPr/>
          <p:nvPr/>
        </p:nvSpPr>
        <p:spPr>
          <a:xfrm>
            <a:off x="1596985" y="5490091"/>
            <a:ext cx="5580578" cy="1057275"/>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CSM - Defining user needs, documenting key system requirements, and assisting in designing the user experience on the platform.</a:t>
            </a:r>
            <a:endParaRPr lang="en-US" sz="1700" dirty="0"/>
          </a:p>
        </p:txBody>
      </p:sp>
      <p:sp>
        <p:nvSpPr>
          <p:cNvPr id="12" name="Shape 10"/>
          <p:cNvSpPr/>
          <p:nvPr/>
        </p:nvSpPr>
        <p:spPr>
          <a:xfrm>
            <a:off x="7452836" y="4976217"/>
            <a:ext cx="495657" cy="495657"/>
          </a:xfrm>
          <a:prstGeom prst="roundRect">
            <a:avLst>
              <a:gd name="adj" fmla="val 66668"/>
            </a:avLst>
          </a:prstGeom>
          <a:solidFill>
            <a:srgbClr val="0A081B"/>
          </a:solidFill>
          <a:ln w="22860">
            <a:solidFill>
              <a:srgbClr val="37A7E7"/>
            </a:solidFill>
            <a:prstDash val="solid"/>
          </a:ln>
        </p:spPr>
        <p:txBody>
          <a:bodyPr/>
          <a:lstStyle/>
          <a:p>
            <a:endParaRPr lang="he-IL"/>
          </a:p>
        </p:txBody>
      </p:sp>
      <p:sp>
        <p:nvSpPr>
          <p:cNvPr id="13" name="Text 11"/>
          <p:cNvSpPr/>
          <p:nvPr/>
        </p:nvSpPr>
        <p:spPr>
          <a:xfrm>
            <a:off x="8168759" y="5051941"/>
            <a:ext cx="2447687" cy="305991"/>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Kfir Motzeri Grady</a:t>
            </a:r>
            <a:endParaRPr lang="en-US" sz="1900" dirty="0"/>
          </a:p>
        </p:txBody>
      </p:sp>
      <p:sp>
        <p:nvSpPr>
          <p:cNvPr id="14" name="Text 12"/>
          <p:cNvSpPr/>
          <p:nvPr/>
        </p:nvSpPr>
        <p:spPr>
          <a:xfrm>
            <a:off x="8168759" y="5490091"/>
            <a:ext cx="5580578" cy="704850"/>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Product – characterization of system processes, building flowcharts and logic for the platform's operation.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734</Words>
  <Application>Microsoft Office PowerPoint</Application>
  <PresentationFormat>מותאם אישית</PresentationFormat>
  <Paragraphs>66</Paragraphs>
  <Slides>6</Slides>
  <Notes>6</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6</vt:i4>
      </vt:variant>
    </vt:vector>
  </HeadingPairs>
  <TitlesOfParts>
    <vt:vector size="10" baseType="lpstr">
      <vt:lpstr>Barlow</vt:lpstr>
      <vt:lpstr>Spline Sans Bold</vt:lpstr>
      <vt:lpstr>Arial</vt:lpstr>
      <vt:lpstr>Office Theme</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אור כהן</dc:creator>
  <cp:lastModifiedBy>אור כהן</cp:lastModifiedBy>
  <cp:revision>3</cp:revision>
  <dcterms:created xsi:type="dcterms:W3CDTF">2026-03-27T10:27:15Z</dcterms:created>
  <dcterms:modified xsi:type="dcterms:W3CDTF">2026-06-03T10:19:54Z</dcterms:modified>
</cp:coreProperties>
</file>